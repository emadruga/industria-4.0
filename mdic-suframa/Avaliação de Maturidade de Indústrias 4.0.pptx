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C482C7-D85E-43E9-AAAE-08C320D9200E}">
  <a:tblStyle styleId="{F1C482C7-D85E-43E9-AAAE-08C320D920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7cd2ba414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7cd2ba414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7cd2ba414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7cd2ba414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7cd2ba414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7cd2ba414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7cd2ba414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7cd2ba414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7cd2ba414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7cd2ba414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7cd2ba414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7cd2ba414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7cd2ba414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7cd2ba414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7cd2ba414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7cd2ba414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https://drive.google.com/file/d/1vtsbCB9E6X7EHmr7EEaPCrrLnQh_peDy/view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hyperlink" Target="https://drive.google.com/file/d/1vtsbCB9E6X7EHmr7EEaPCrrLnQh_peDy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file/d/1vtsbCB9E6X7EHmr7EEaPCrrLnQh_peDy/view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vtsbCB9E6X7EHmr7EEaPCrrLnQh_peDy/view?usp=sharing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drive.google.com/file/d/1vtsbCB9E6X7EHmr7EEaPCrrLnQh_peDy/view?usp=shar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de Maturidade de Indústrias 4.0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are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425" y="0"/>
            <a:ext cx="5317675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4"/>
          <p:cNvCxnSpPr/>
          <p:nvPr/>
        </p:nvCxnSpPr>
        <p:spPr>
          <a:xfrm flipH="1">
            <a:off x="5751625" y="1650775"/>
            <a:ext cx="1390200" cy="57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4"/>
          <p:cNvSpPr txBox="1"/>
          <p:nvPr/>
        </p:nvSpPr>
        <p:spPr>
          <a:xfrm>
            <a:off x="7258100" y="1442275"/>
            <a:ext cx="175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Bloco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 rot="10800000">
            <a:off x="6637763" y="2867025"/>
            <a:ext cx="1257300" cy="19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4"/>
          <p:cNvSpPr txBox="1"/>
          <p:nvPr/>
        </p:nvSpPr>
        <p:spPr>
          <a:xfrm>
            <a:off x="8011338" y="2857425"/>
            <a:ext cx="175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Pilar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0" y="3405825"/>
            <a:ext cx="2311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4"/>
              </a:rPr>
              <a:t>https://drive.google.com/file/d/1vtsbCB9E6X7EHmr7EEaPCrrLnQh_peDy/view?usp=sharing</a:t>
            </a: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 title="Captura de tela 2025-08-20 1206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400" y="2924163"/>
            <a:ext cx="735330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Captura de tela 2025-08-20 1220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1325" y="400050"/>
            <a:ext cx="3333750" cy="434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5"/>
          <p:cNvCxnSpPr/>
          <p:nvPr/>
        </p:nvCxnSpPr>
        <p:spPr>
          <a:xfrm flipH="1" rot="10800000">
            <a:off x="5299900" y="3023575"/>
            <a:ext cx="278100" cy="417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5"/>
          <p:cNvSpPr txBox="1"/>
          <p:nvPr/>
        </p:nvSpPr>
        <p:spPr>
          <a:xfrm>
            <a:off x="4418700" y="2271325"/>
            <a:ext cx="441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Dimensão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560675" y="1354275"/>
            <a:ext cx="3540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5"/>
              </a:rPr>
              <a:t>https://drive.google.com/file/d/1vtsbCB9E6X7EHmr7EEaPCrrLnQh_peDy/view?usp=sharing</a:t>
            </a: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6" title="Captura de tela 2025-08-20 1220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025" y="0"/>
            <a:ext cx="394786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6729400" y="2258975"/>
            <a:ext cx="2311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4"/>
              </a:rPr>
              <a:t>https://drive.google.com/file/d/1vtsbCB9E6X7EHmr7EEaPCrrLnQh_peDy/view?usp=sharing</a:t>
            </a: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121625" y="4578364"/>
            <a:ext cx="902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3"/>
              </a:rPr>
              <a:t>https://drive.google.com/file/d/1vtsbCB9E6X7EHmr7EEaPCrrLnQh_peDy/view?usp=sharing</a:t>
            </a: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4050" y="139025"/>
            <a:ext cx="5062661" cy="44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1700"/>
            <a:ext cx="4615200" cy="43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326" y="704139"/>
            <a:ext cx="4079675" cy="37352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8"/>
          <p:cNvCxnSpPr>
            <a:stCxn id="106" idx="3"/>
            <a:endCxn id="107" idx="1"/>
          </p:cNvCxnSpPr>
          <p:nvPr/>
        </p:nvCxnSpPr>
        <p:spPr>
          <a:xfrm>
            <a:off x="4615200" y="2442450"/>
            <a:ext cx="449100" cy="12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8"/>
          <p:cNvSpPr txBox="1"/>
          <p:nvPr/>
        </p:nvSpPr>
        <p:spPr>
          <a:xfrm>
            <a:off x="121625" y="4491480"/>
            <a:ext cx="902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5"/>
              </a:rPr>
              <a:t>https://drive.google.com/file/d/1vtsbCB9E6X7EHmr7EEaPCrrLnQh_peDy/view?usp=sharing</a:t>
            </a: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075" y="4"/>
            <a:ext cx="561785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1007850" y="3457950"/>
            <a:ext cx="7472100" cy="1685700"/>
          </a:xfrm>
          <a:prstGeom prst="ellipse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18" name="Google Shape;118;p19"/>
          <p:cNvCxnSpPr>
            <a:endCxn id="117" idx="7"/>
          </p:cNvCxnSpPr>
          <p:nvPr/>
        </p:nvCxnSpPr>
        <p:spPr>
          <a:xfrm flipH="1">
            <a:off x="7385686" y="2971315"/>
            <a:ext cx="659700" cy="73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9"/>
          <p:cNvSpPr txBox="1"/>
          <p:nvPr/>
        </p:nvSpPr>
        <p:spPr>
          <a:xfrm>
            <a:off x="7524100" y="2299125"/>
            <a:ext cx="165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nivel 5 no Siri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Tarefa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Identificar capacidades e propor questões e respostas para os seguintes pilares: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Organização → Gestão → </a:t>
            </a:r>
            <a:r>
              <a:rPr b="1" lang="pt-BR"/>
              <a:t>Comunicação Inter e Intra </a:t>
            </a:r>
            <a:r>
              <a:rPr b="1" lang="pt-BR"/>
              <a:t>companhia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Processo → Operação → </a:t>
            </a:r>
            <a:r>
              <a:rPr b="1" lang="pt-BR"/>
              <a:t>Integração Vertical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Processo→ Ciclo de Vida de Produto→ </a:t>
            </a:r>
            <a:r>
              <a:rPr b="1" lang="pt-BR"/>
              <a:t>Ciclo de Vida de Produto Integrado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Template</a:t>
            </a:r>
            <a:endParaRPr/>
          </a:p>
        </p:txBody>
      </p:sp>
      <p:graphicFrame>
        <p:nvGraphicFramePr>
          <p:cNvPr id="131" name="Google Shape;131;p21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{F1C482C7-D85E-43E9-AAAE-08C320D9200E}</a:tableStyleId>
              </a:tblPr>
              <a:tblGrid>
                <a:gridCol w="2087775"/>
                <a:gridCol w="1531725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Variável (Capacidade)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Bloco/Pilar: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Dimensão: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Questão: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Peso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Item de Resposta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Nível </a:t>
                      </a:r>
                      <a:r>
                        <a:rPr lang="pt-BR">
                          <a:solidFill>
                            <a:schemeClr val="dk1"/>
                          </a:solidFill>
                        </a:rPr>
                        <a:t>Siri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2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5 Preditivo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6 Adaptativo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