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9N0BIN5fNN7y2K0pwsdfdphwo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449FFD-9D96-476F-8BB2-E6B539298375}">
  <a:tblStyle styleId="{BA449FFD-9D96-476F-8BB2-E6B53929837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fbfc5c24a_0_0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g39fbfc5c24a_0_0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9fbfc5c24a_0_0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0e8eda04f_1_0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g3a0e8eda04f_1_0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a0e8eda04f_1_0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90243b3b4_0_5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790243b3b4_0_5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790243b3b4_0_5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71f47ea69_0_42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g3871f47ea69_0_42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871f47ea69_0_42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fbfc5c24a_0_34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39fbfc5c24a_0_34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9fbfc5c24a_0_34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7817ba2c0_0_3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387817ba2c0_0_3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87817ba2c0_0_3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71f47ea69_0_19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g3871f47ea69_0_19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871f47ea69_0_19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71f47ea69_0_31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871f47ea69_0_31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871f47ea69_0_31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71f47ea69_0_1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g3871f47ea69_0_1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871f47ea69_0_1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1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hyperlink" Target="mailto:wachapetta%7D@inmetro.gov.br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noticias.portaldaindustria.com.br/noticias/tecnologia/mercado-de-industria-40-pode-chegar-a-us-562-bilhoes-no-brasil-ate-2028/#:~:text=O%20mercado%20da%20Ind%C3%BAstria%204,per%C3%ADodo%20de%202023%20a%202028" TargetMode="External"/><Relationship Id="rId4" Type="http://schemas.openxmlformats.org/officeDocument/2006/relationships/hyperlink" Target="https://www.cast4it.com/desafios-da-industria-4-0-no-brasil-quais-sao-e-como-supera-los/#:~:text=Segundo%20dados%20da%20pesquisa%20Ind%C3%BAstria,que%20apresenta%2018%20aplica%C3%A7%C3%B5es%20diferentes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blog.ateliware.com/digital-transformation-industry-4-0-future-ready-companies/#:~:text=Consider%20this%3A%20mainly%20within%20companies%2C,the%20objectives%20of%20the%20company" TargetMode="External"/><Relationship Id="rId5" Type="http://schemas.openxmlformats.org/officeDocument/2006/relationships/hyperlink" Target="https://www.fogwing.io/blog/industrial/industry-40-maturity-model/#:~:text=What%20is%20Industry%204" TargetMode="External"/><Relationship Id="rId6" Type="http://schemas.openxmlformats.org/officeDocument/2006/relationships/hyperlink" Target="https://www.fogwing.io/blog/industrial/industry-40-maturity-model/#:~:text=What%20is%20Industry%204" TargetMode="External"/><Relationship Id="rId7" Type="http://schemas.openxmlformats.org/officeDocument/2006/relationships/hyperlink" Target="https://www.fogwing.io/blog/industrial/industry-40-maturity-model/#:~:text=What%20is%20Industry%204" TargetMode="External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fogwing.io/blog/industrial/industry-40-maturity-model/#:~:text=What%20is%20Industry%204" TargetMode="External"/><Relationship Id="rId4" Type="http://schemas.openxmlformats.org/officeDocument/2006/relationships/hyperlink" Target="https://www.fogwing.io/blog/industrial/industry-40-maturity-model/#:~:text=What%20is%20Industry%204" TargetMode="External"/><Relationship Id="rId9" Type="http://schemas.openxmlformats.org/officeDocument/2006/relationships/image" Target="../media/image15.png"/><Relationship Id="rId5" Type="http://schemas.openxmlformats.org/officeDocument/2006/relationships/hyperlink" Target="https://www.fogwing.io/blog/industrial/industry-40-maturity-model/#:~:text=What%20is%20Industry%204" TargetMode="External"/><Relationship Id="rId6" Type="http://schemas.openxmlformats.org/officeDocument/2006/relationships/hyperlink" Target="https://www.fogwing.io/blog/industrial/industry-40-maturity-model/#:~:text=diagram%20provides%20a%20reference%20model,of%205%20stages%20of%20maturity" TargetMode="External"/><Relationship Id="rId7" Type="http://schemas.openxmlformats.org/officeDocument/2006/relationships/hyperlink" Target="https://www.fogwing.io/blog/industrial/industry-40-maturity-model/#:~:text=diagram%20provides%20a%20reference%20model,of%205%20stages%20of%20maturity" TargetMode="External"/><Relationship Id="rId8" Type="http://schemas.openxmlformats.org/officeDocument/2006/relationships/hyperlink" Target="https://www.fogwing.io/blog/industrial/industry-40-maturity-model/#:~:text=diagram%20provides%20a%20reference%20model,of%205%20stages%20of%20maturit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fogwing.io/blog/industrial/industry-40-maturity-model/#:~:text=What%20is%20Industry%204" TargetMode="External"/><Relationship Id="rId4" Type="http://schemas.openxmlformats.org/officeDocument/2006/relationships/hyperlink" Target="https://www.fogwing.io/blog/industrial/industry-40-maturity-model/#:~:text=What%20is%20Industry%204" TargetMode="External"/><Relationship Id="rId9" Type="http://schemas.openxmlformats.org/officeDocument/2006/relationships/image" Target="../media/image15.png"/><Relationship Id="rId5" Type="http://schemas.openxmlformats.org/officeDocument/2006/relationships/hyperlink" Target="https://www.fogwing.io/blog/industrial/industry-40-maturity-model/#:~:text=What%20is%20Industry%204" TargetMode="External"/><Relationship Id="rId6" Type="http://schemas.openxmlformats.org/officeDocument/2006/relationships/hyperlink" Target="https://www.fogwing.io/blog/industrial/industry-40-maturity-model/#:~:text=diagram%20provides%20a%20reference%20model,of%205%20stages%20of%20maturity" TargetMode="External"/><Relationship Id="rId7" Type="http://schemas.openxmlformats.org/officeDocument/2006/relationships/hyperlink" Target="https://www.fogwing.io/blog/industrial/industry-40-maturity-model/#:~:text=diagram%20provides%20a%20reference%20model,of%205%20stages%20of%20maturity" TargetMode="External"/><Relationship Id="rId8" Type="http://schemas.openxmlformats.org/officeDocument/2006/relationships/hyperlink" Target="https://www.fogwing.io/blog/industrial/industry-40-maturity-model/#:~:text=diagram%20provides%20a%20reference%20model,of%205%20stages%20of%20maturity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processingmagazine.com/process-control-automation/article/15587467/where-is-your-plant-on-the-path-to-industry-40#:~:text=Comprehensive%20transformation%20affects%20more%20than,The%20first%20two%20stages" TargetMode="External"/><Relationship Id="rId4" Type="http://schemas.openxmlformats.org/officeDocument/2006/relationships/hyperlink" Target="https://www.processingmagazine.com/process-control-automation/article/15587467/where-is-your-plant-on-the-path-to-industry-40#:~:text=Comprehensive%20transformation%20affects%20more%20than,The%20first%20two%20stages" TargetMode="External"/><Relationship Id="rId10" Type="http://schemas.openxmlformats.org/officeDocument/2006/relationships/image" Target="../media/image15.png"/><Relationship Id="rId9" Type="http://schemas.openxmlformats.org/officeDocument/2006/relationships/image" Target="../media/image8.png"/><Relationship Id="rId5" Type="http://schemas.openxmlformats.org/officeDocument/2006/relationships/hyperlink" Target="https://www.processingmagazine.com/process-control-automation/article/15587467/where-is-your-plant-on-the-path-to-industry-40#:~:text=Comprehensive%20transformation%20affects%20more%20than,The%20first%20two%20stages" TargetMode="External"/><Relationship Id="rId6" Type="http://schemas.openxmlformats.org/officeDocument/2006/relationships/hyperlink" Target="https://www.processingmagazine.com/process-control-automation/article/15587467/where-is-your-plant-on-the-path-to-industry-40#:~:text=Under%20the%20roof%20of%20Deutsche,its%20comprehensive%20IT%20security%20knowledge" TargetMode="External"/><Relationship Id="rId7" Type="http://schemas.openxmlformats.org/officeDocument/2006/relationships/hyperlink" Target="https://www.processingmagazine.com/process-control-automation/article/15587467/where-is-your-plant-on-the-path-to-industry-40#:~:text=Under%20the%20roof%20of%20Deutsche,its%20comprehensive%20IT%20security%20knowledge" TargetMode="External"/><Relationship Id="rId8" Type="http://schemas.openxmlformats.org/officeDocument/2006/relationships/hyperlink" Target="https://www.processingmagazine.com/process-control-automation/article/15587467/where-is-your-plant-on-the-path-to-industry-40#:~:text=Under%20the%20roof%20of%20Deutsche,its%20comprehensive%20IT%20security%20knowledg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plattform-i40.de/IP/Redaktion/EN/Downloads/Publikation/acatech-i40-maturity-index.html#:~:text=The%20acatech%20Industrie%204,capabilities%20described%20in%20this%20study" TargetMode="External"/><Relationship Id="rId4" Type="http://schemas.openxmlformats.org/officeDocument/2006/relationships/hyperlink" Target="https://www.plattform-i40.de/IP/Redaktion/EN/Downloads/Publikation/acatech-i40-maturity-index.html#:~:text=The%20acatech%20Industrie%204,capabilities%20described%20in%20this%20study" TargetMode="External"/><Relationship Id="rId9" Type="http://schemas.openxmlformats.org/officeDocument/2006/relationships/image" Target="../media/image15.png"/><Relationship Id="rId5" Type="http://schemas.openxmlformats.org/officeDocument/2006/relationships/hyperlink" Target="https://www.plattform-i40.de/IP/Redaktion/EN/Downloads/Publikation/acatech-i40-maturity-index.html#:~:text=The%20acatech%20Industrie%204,capabilities%20described%20in%20this%20study" TargetMode="External"/><Relationship Id="rId6" Type="http://schemas.openxmlformats.org/officeDocument/2006/relationships/hyperlink" Target="https://www.processingmagazine.com/process-control-automation/article/15587467/where-is-your-plant-on-the-path-to-industry-40#:~:text=Comprehensive%20transformation%20affects%20more%20than,autonomously%20and%20in%20real%20time" TargetMode="External"/><Relationship Id="rId7" Type="http://schemas.openxmlformats.org/officeDocument/2006/relationships/hyperlink" Target="https://www.processingmagazine.com/process-control-automation/article/15587467/where-is-your-plant-on-the-path-to-industry-40#:~:text=Comprehensive%20transformation%20affects%20more%20than,autonomously%20and%20in%20real%20time" TargetMode="External"/><Relationship Id="rId8" Type="http://schemas.openxmlformats.org/officeDocument/2006/relationships/hyperlink" Target="https://www.processingmagazine.com/process-control-automation/article/15587467/where-is-your-plant-on-the-path-to-industry-40#:~:text=Comprehensive%20transformation%20affects%20more%20than,autonomously%20and%20in%20real%20tim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processingmagazine.com/process-control-automation/article/15587467/where-is-your-plant-on-the-path-to-industry-40#:~:text=Comprehensive%20transformation%20affects%20more%20than,The%20first%20two%20stages" TargetMode="External"/><Relationship Id="rId4" Type="http://schemas.openxmlformats.org/officeDocument/2006/relationships/hyperlink" Target="https://www.processingmagazine.com/process-control-automation/article/15587467/where-is-your-plant-on-the-path-to-industry-40#:~:text=Comprehensive%20transformation%20affects%20more%20than,The%20first%20two%20stages" TargetMode="External"/><Relationship Id="rId11" Type="http://schemas.openxmlformats.org/officeDocument/2006/relationships/hyperlink" Target="https://blog.ateliware.com/digital-transformation-industry-4-0-future-ready-companies/#:~:text=,png" TargetMode="External"/><Relationship Id="rId10" Type="http://schemas.openxmlformats.org/officeDocument/2006/relationships/hyperlink" Target="https://blog.ateliware.com/digital-transformation-industry-4-0-future-ready-companies/#:~:text=,png" TargetMode="External"/><Relationship Id="rId12" Type="http://schemas.openxmlformats.org/officeDocument/2006/relationships/image" Target="../media/image15.png"/><Relationship Id="rId9" Type="http://schemas.openxmlformats.org/officeDocument/2006/relationships/hyperlink" Target="https://blog.ateliware.com/digital-transformation-industry-4-0-future-ready-companies/#:~:text=,png" TargetMode="External"/><Relationship Id="rId5" Type="http://schemas.openxmlformats.org/officeDocument/2006/relationships/hyperlink" Target="https://www.processingmagazine.com/process-control-automation/article/15587467/where-is-your-plant-on-the-path-to-industry-40#:~:text=Comprehensive%20transformation%20affects%20more%20than,The%20first%20two%20stages" TargetMode="External"/><Relationship Id="rId6" Type="http://schemas.openxmlformats.org/officeDocument/2006/relationships/hyperlink" Target="https://www.processingmagazine.com/process-control-automation/article/15587467/where-is-your-plant-on-the-path-to-industry-40#:~:text=,autonomously%20and%20in%20real%20time" TargetMode="External"/><Relationship Id="rId7" Type="http://schemas.openxmlformats.org/officeDocument/2006/relationships/hyperlink" Target="https://www.processingmagazine.com/process-control-automation/article/15587467/where-is-your-plant-on-the-path-to-industry-40#:~:text=,autonomously%20and%20in%20real%20time" TargetMode="External"/><Relationship Id="rId8" Type="http://schemas.openxmlformats.org/officeDocument/2006/relationships/hyperlink" Target="https://www.processingmagazine.com/process-control-automation/article/15587467/where-is-your-plant-on-the-path-to-industry-40#:~:text=,autonomously%20and%20in%20real%20time" TargetMode="External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ifelsecloud.com/smart-industry-readiness-index-siri#:~:text=The%20SIRI%20framework%20has%20three,systematically%20optimizes%20operations%2C%20reduces%20costs" TargetMode="External"/><Relationship Id="rId10" Type="http://schemas.openxmlformats.org/officeDocument/2006/relationships/hyperlink" Target="https://ifelsecloud.com/smart-industry-readiness-index-siri#:~:text=The%20SIRI%20framework%20has%20three,systematically%20optimizes%20operations%2C%20reduces%20costs" TargetMode="External"/><Relationship Id="rId13" Type="http://schemas.openxmlformats.org/officeDocument/2006/relationships/hyperlink" Target="https://www.tuvsud.com/en-us/resource-centre/stories/smart-industry-readiness-index#:~:text=,provides%20intermediate%20steps%20needed%20for" TargetMode="External"/><Relationship Id="rId12" Type="http://schemas.openxmlformats.org/officeDocument/2006/relationships/hyperlink" Target="https://www.tuvsud.com/en-us/resource-centre/stories/smart-industry-readiness-index#:~:text=,provides%20intermediate%20steps%20needed%20for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hyperlink" Target="https://ifelsecloud.com/smart-industry-readiness-index-siri#:~:text=The%20SIRI%20framework%20has%20three,systematically%20optimizes%20operations%2C%20reduces%20costs" TargetMode="External"/><Relationship Id="rId15" Type="http://schemas.openxmlformats.org/officeDocument/2006/relationships/image" Target="../media/image15.png"/><Relationship Id="rId14" Type="http://schemas.openxmlformats.org/officeDocument/2006/relationships/hyperlink" Target="https://www.tuvsud.com/en-us/resource-centre/stories/smart-industry-readiness-index#:~:text=,provides%20intermediate%20steps%20needed%20for" TargetMode="External"/><Relationship Id="rId5" Type="http://schemas.openxmlformats.org/officeDocument/2006/relationships/image" Target="../media/image12.png"/><Relationship Id="rId6" Type="http://schemas.openxmlformats.org/officeDocument/2006/relationships/hyperlink" Target="https://www.tuvsud.com/en-us/resource-centre/stories/smart-industry-readiness-index#:~:text=Embracing%20Industry%204,at%20a%20time" TargetMode="External"/><Relationship Id="rId7" Type="http://schemas.openxmlformats.org/officeDocument/2006/relationships/hyperlink" Target="https://www.tuvsud.com/en-us/resource-centre/stories/smart-industry-readiness-index#:~:text=Embracing%20Industry%204,at%20a%20time" TargetMode="External"/><Relationship Id="rId8" Type="http://schemas.openxmlformats.org/officeDocument/2006/relationships/hyperlink" Target="https://www.tuvsud.com/en-us/resource-centre/stories/smart-industry-readiness-index#:~:text=Embracing%20Industry%204,at%20a%20tim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nobleo-manufacturing.com/our-services/siri/#:~:text=As%20certified%20SIRI%20assessors%2C%20Nobleo,effective%20digital%20transformation%20and%20sustainability" TargetMode="External"/><Relationship Id="rId4" Type="http://schemas.openxmlformats.org/officeDocument/2006/relationships/hyperlink" Target="https://www.nobleo-manufacturing.com/our-services/siri/#:~:text=As%20certified%20SIRI%20assessors%2C%20Nobleo,effective%20digital%20transformation%20and%20sustainability" TargetMode="External"/><Relationship Id="rId9" Type="http://schemas.openxmlformats.org/officeDocument/2006/relationships/image" Target="../media/image15.png"/><Relationship Id="rId5" Type="http://schemas.openxmlformats.org/officeDocument/2006/relationships/hyperlink" Target="https://www.nobleo-manufacturing.com/our-services/siri/#:~:text=As%20certified%20SIRI%20assessors%2C%20Nobleo,effective%20digital%20transformation%20and%20sustainability" TargetMode="External"/><Relationship Id="rId6" Type="http://schemas.openxmlformats.org/officeDocument/2006/relationships/hyperlink" Target="https://ifelsecloud.com/blogs/guide-to-smart-industry-readiness-assessment#:~:text=,in%20their%20digital%20transformation%20journey" TargetMode="External"/><Relationship Id="rId7" Type="http://schemas.openxmlformats.org/officeDocument/2006/relationships/hyperlink" Target="https://ifelsecloud.com/blogs/guide-to-smart-industry-readiness-assessment#:~:text=,in%20their%20digital%20transformation%20journey" TargetMode="External"/><Relationship Id="rId8" Type="http://schemas.openxmlformats.org/officeDocument/2006/relationships/hyperlink" Target="https://ifelsecloud.com/blogs/guide-to-smart-industry-readiness-assessment#:~:text=,in%20their%20digital%20transformation%20journey" TargetMode="External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nobleo-manufacturing.com/our-services/siri/#:~:text=As%20certified%20SIRI%20assessors%2C%20Nobleo,effective%20digital%20transformation%20and%20sustainability" TargetMode="External"/><Relationship Id="rId10" Type="http://schemas.openxmlformats.org/officeDocument/2006/relationships/hyperlink" Target="https://www.nobleo-manufacturing.com/our-services/siri/#:~:text=As%20certified%20SIRI%20assessors%2C%20Nobleo,effective%20digital%20transformation%20and%20sustainability" TargetMode="External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processingmagazine.com/process-control-automation/article/15587467/where-is-your-plant-on-the-path-to-industry-40#:~:text=Comprehensive%20transformation%20affects%20more%20than,The%20first%20two%20stages" TargetMode="External"/><Relationship Id="rId4" Type="http://schemas.openxmlformats.org/officeDocument/2006/relationships/hyperlink" Target="https://www.processingmagazine.com/process-control-automation/article/15587467/where-is-your-plant-on-the-path-to-industry-40#:~:text=Comprehensive%20transformation%20affects%20more%20than,The%20first%20two%20stages" TargetMode="External"/><Relationship Id="rId9" Type="http://schemas.openxmlformats.org/officeDocument/2006/relationships/hyperlink" Target="https://www.nobleo-manufacturing.com/our-services/siri/#:~:text=As%20certified%20SIRI%20assessors%2C%20Nobleo,effective%20digital%20transformation%20and%20sustainability" TargetMode="External"/><Relationship Id="rId5" Type="http://schemas.openxmlformats.org/officeDocument/2006/relationships/hyperlink" Target="https://www.processingmagazine.com/process-control-automation/article/15587467/where-is-your-plant-on-the-path-to-industry-40#:~:text=Comprehensive%20transformation%20affects%20more%20than,The%20first%20two%20stages" TargetMode="External"/><Relationship Id="rId6" Type="http://schemas.openxmlformats.org/officeDocument/2006/relationships/hyperlink" Target="https://ifelsecloud.com/smart-industry-readiness-index-siri#:~:text=The%20SIRI%20framework%20has%20three,systematically%20optimizes%20operations%2C%20reduces%20costs" TargetMode="External"/><Relationship Id="rId7" Type="http://schemas.openxmlformats.org/officeDocument/2006/relationships/hyperlink" Target="https://ifelsecloud.com/smart-industry-readiness-index-siri#:~:text=The%20SIRI%20framework%20has%20three,systematically%20optimizes%20operations%2C%20reduces%20costs" TargetMode="External"/><Relationship Id="rId8" Type="http://schemas.openxmlformats.org/officeDocument/2006/relationships/hyperlink" Target="https://ifelsecloud.com/smart-industry-readiness-index-siri#:~:text=The%20SIRI%20framework%20has%20three,systematically%20optimizes%20operations%2C%20reduces%20cost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plattform-i40.de/IP/Redaktion/EN/Downloads/Publikation/acatech-i40-maturity-index.html#:~:text=The%20acatech%20Industrie%204,capabilities%20described%20in%20this%20study" TargetMode="External"/><Relationship Id="rId4" Type="http://schemas.openxmlformats.org/officeDocument/2006/relationships/hyperlink" Target="https://www.plattform-i40.de/IP/Redaktion/EN/Downloads/Publikation/acatech-i40-maturity-index.html#:~:text=The%20acatech%20Industrie%204,capabilities%20described%20in%20this%20study" TargetMode="External"/><Relationship Id="rId9" Type="http://schemas.openxmlformats.org/officeDocument/2006/relationships/image" Target="../media/image15.png"/><Relationship Id="rId5" Type="http://schemas.openxmlformats.org/officeDocument/2006/relationships/hyperlink" Target="https://www.plattform-i40.de/IP/Redaktion/EN/Downloads/Publikation/acatech-i40-maturity-index.html#:~:text=The%20acatech%20Industrie%204,capabilities%20described%20in%20this%20study" TargetMode="External"/><Relationship Id="rId6" Type="http://schemas.openxmlformats.org/officeDocument/2006/relationships/hyperlink" Target="https://ifelsecloud.com/smart-industry-readiness-index-siri#:~:text=The%20SIRI%20framework%20has%20three,systematically%20optimizes%20operations%2C%20reduces%20costs" TargetMode="External"/><Relationship Id="rId7" Type="http://schemas.openxmlformats.org/officeDocument/2006/relationships/hyperlink" Target="https://ifelsecloud.com/smart-industry-readiness-index-siri#:~:text=The%20SIRI%20framework%20has%20three,systematically%20optimizes%20operations%2C%20reduces%20costs" TargetMode="External"/><Relationship Id="rId8" Type="http://schemas.openxmlformats.org/officeDocument/2006/relationships/hyperlink" Target="https://ifelsecloud.com/smart-industry-readiness-index-siri#:~:text=The%20SIRI%20framework%20has%20three,systematically%20optimizes%20operations%2C%20reduces%20cost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hyperlink" Target="https://docs.google.com/document/d/1EfQlC9fEPWtEUap9fuFSdc3Tyn6IPWkz6CgYk76xKus/edit?usp=sharing" TargetMode="External"/><Relationship Id="rId6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oai/share/7f4367ea-abe9-40a2-bc37-dde418f6bd33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12963" r="12962" t="0"/>
          <a:stretch/>
        </p:blipFill>
        <p:spPr>
          <a:xfrm>
            <a:off x="4572000" y="457200"/>
            <a:ext cx="4571640" cy="411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365760" y="1645920"/>
            <a:ext cx="438876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Modelo de Maturidade para</a:t>
            </a:r>
            <a:endParaRPr b="0" sz="36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strike="noStrike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  <a:t>Indústria 4.0</a:t>
            </a:r>
            <a:endParaRPr b="0" sz="36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65760" y="2926080"/>
            <a:ext cx="438876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b="0" i="1" lang="en-US" sz="16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modelo de maturidade 4.0 </a:t>
            </a:r>
            <a:r>
              <a:rPr i="1" lang="en-US" sz="16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adaptado </a:t>
            </a:r>
            <a:r>
              <a:rPr b="0" i="1" lang="en-US" sz="16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à </a:t>
            </a:r>
            <a:r>
              <a:rPr i="1" lang="en-US" sz="16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indústria </a:t>
            </a:r>
            <a:r>
              <a:rPr b="0" i="1" lang="en-US" sz="16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brasileira</a:t>
            </a:r>
            <a:endParaRPr b="0" sz="16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" y="4206240"/>
            <a:ext cx="43887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{rcmachado, wachapetta}@inmetro.gov.br</a:t>
            </a:r>
            <a:endParaRPr b="0" sz="12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5760" y="3594240"/>
            <a:ext cx="43887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Raphael Machado</a:t>
            </a:r>
            <a:endParaRPr b="1" i="1" sz="1200" strike="noStrike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1" lang="en-US" sz="12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Wladmir Chapetta</a:t>
            </a:r>
            <a:endParaRPr b="1" i="1" sz="12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6001" y="3856850"/>
            <a:ext cx="1731125" cy="65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 title="generated-image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719" y="569524"/>
            <a:ext cx="3843949" cy="240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9fbfc5c24a_0_0"/>
          <p:cNvSpPr/>
          <p:nvPr/>
        </p:nvSpPr>
        <p:spPr>
          <a:xfrm>
            <a:off x="274320" y="274320"/>
            <a:ext cx="859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30A18"/>
                </a:solidFill>
              </a:rPr>
              <a:t>Equipe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9fbfc5c24a_0_0"/>
          <p:cNvSpPr/>
          <p:nvPr/>
        </p:nvSpPr>
        <p:spPr>
          <a:xfrm>
            <a:off x="2386000" y="1539590"/>
            <a:ext cx="4571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215840" lvl="0" marL="190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600"/>
              <a:buFont typeface="Noto Sans Symbols"/>
              <a:buChar char="∙"/>
            </a:pPr>
            <a:r>
              <a:rPr lang="en-US" sz="16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Coordenação: </a:t>
            </a:r>
            <a:endParaRPr sz="16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Raphael Machado (D.Sc.)</a:t>
            </a:r>
            <a:endParaRPr b="1" sz="16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840" lvl="0" marL="190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600"/>
              <a:buFont typeface="Calibri"/>
              <a:buChar char="∙"/>
            </a:pPr>
            <a:r>
              <a:rPr lang="en-US" sz="16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Editor/Responsável Técnico:</a:t>
            </a:r>
            <a:endParaRPr sz="16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Wladmir Araujo Chapetta (D.Sc.)</a:t>
            </a:r>
            <a:endParaRPr b="1" sz="16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840" lvl="0" marL="19044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30A18"/>
              </a:buClr>
              <a:buSzPts val="1600"/>
              <a:buFont typeface="Noto Sans Symbols"/>
              <a:buChar char="∙"/>
            </a:pPr>
            <a:r>
              <a:rPr lang="en-US" sz="16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Equipe:</a:t>
            </a:r>
            <a:endParaRPr sz="16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Cristiano Castro (M.Sc.)</a:t>
            </a:r>
            <a:endParaRPr b="1" sz="16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Ewerton Madruga (Ph.D.)</a:t>
            </a:r>
            <a:endParaRPr b="1" sz="16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Flávia Agostini (D.Sc.)</a:t>
            </a:r>
            <a:endParaRPr b="1" sz="16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Wilson Mello Jr. (D.Sc.)</a:t>
            </a:r>
            <a:endParaRPr b="1" sz="16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g39fbfc5c24a_0_0" title="generated-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Potencial da Digitalização no Brasil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57200" y="1463040"/>
            <a:ext cx="4571640" cy="2742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196790" lvl="0" marL="190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300"/>
              <a:buFont typeface="Noto Sans Symbols"/>
              <a:buChar char="∙"/>
            </a:pPr>
            <a:r>
              <a:rPr b="0" lang="en-US" sz="13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O mercado da Indústria 4.0 no Brasil cresceu de US$ 1,77 bilhão (2022) para uma previsão de US$ 5,62 bilhões até 2028.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790" lvl="0" marL="19044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30A18"/>
              </a:buClr>
              <a:buSzPts val="1300"/>
              <a:buFont typeface="Noto Sans Symbols"/>
              <a:buChar char="∙"/>
            </a:pPr>
            <a:r>
              <a:rPr b="0" lang="en-US" sz="13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69 % das indústrias utilizam ao menos uma tecnologia digital; 26 % usam de 1 a 3 tecnologias e apenas 7 % utilizam 10 ou mais.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790" lvl="0" marL="19044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30A18"/>
              </a:buClr>
              <a:buSzPts val="1300"/>
              <a:buFont typeface="Noto Sans Symbols"/>
              <a:buChar char="∙"/>
            </a:pPr>
            <a:r>
              <a:rPr b="0" lang="en-US" sz="13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A digitalização possibilita otimizar processos, reduzir custos e impulsionar a inovação.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790" lvl="0" marL="19044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30A18"/>
              </a:buClr>
              <a:buSzPts val="1300"/>
              <a:buFont typeface="Noto Sans Symbols"/>
              <a:buChar char="∙"/>
            </a:pPr>
            <a:r>
              <a:rPr b="0" lang="en-US" sz="13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Uma implementação bem‑sucedida melhora a competitividade global e abre novas oportunidades de exportação.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57200" y="4777920"/>
            <a:ext cx="8229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[1]</a:t>
            </a:r>
            <a:r>
              <a:rPr lang="en-US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[2]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6725" y="1838925"/>
            <a:ext cx="3692024" cy="13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6748" y="3351650"/>
            <a:ext cx="3692002" cy="13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3" title="generated-image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Indústria 4.0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1371600"/>
            <a:ext cx="5486040" cy="2742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209490" lvl="0" marL="190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Noto Sans Symbols"/>
              <a:buChar char="∙"/>
            </a:pPr>
            <a:r>
              <a:rPr b="0" lang="en-US" sz="15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Comunicação em tempo real entre sistemas ciberfísicos, máquinas e pessoas.</a:t>
            </a:r>
            <a:endParaRPr b="0" sz="15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490" lvl="0" marL="19044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Noto Sans Symbols"/>
              <a:buChar char="∙"/>
            </a:pPr>
            <a:r>
              <a:rPr b="0" lang="en-US" sz="15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Grande volume de dados e conectividade para decisões rápidas e escaláveis.</a:t>
            </a:r>
            <a:endParaRPr b="0" sz="15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490" lvl="0" marL="19044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Noto Sans Symbols"/>
              <a:buChar char="∙"/>
            </a:pPr>
            <a:r>
              <a:rPr b="0" lang="en-US" sz="15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Integração de pessoas, processos e tecnologia.</a:t>
            </a:r>
            <a:endParaRPr b="0" sz="15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828800"/>
            <a:ext cx="1371240" cy="137124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6400800" y="3291840"/>
            <a:ext cx="13712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Conectividade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" y="4777920"/>
            <a:ext cx="8229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[3]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4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4" title="generated-image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Modelos de Maturidade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1280160"/>
            <a:ext cx="5028840" cy="2742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203140" lvl="0" marL="190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Noto Sans Symbols"/>
              <a:buChar char="∙"/>
            </a:pP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Medida quantitativa do impacto da transformação digital.</a:t>
            </a:r>
            <a:endParaRPr b="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140" lvl="0" marL="19044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Noto Sans Symbols"/>
              <a:buChar char="∙"/>
            </a:pP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Avalia progresso, identifica lacunas e orienta investimentos.</a:t>
            </a:r>
            <a:endParaRPr b="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140" lvl="0" marL="19044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Noto Sans Symbols"/>
              <a:buChar char="∙"/>
            </a:pP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Evolução incremental: conectar ativos, consolidar dados, analisar, prever e automatizar.</a:t>
            </a:r>
            <a:endParaRPr b="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317200" y="1499040"/>
            <a:ext cx="1173240" cy="548280"/>
          </a:xfrm>
          <a:prstGeom prst="roundRect">
            <a:avLst>
              <a:gd fmla="val 8333" name="adj"/>
            </a:avLst>
          </a:prstGeom>
          <a:solidFill>
            <a:srgbClr val="97B1DF"/>
          </a:solidFill>
          <a:ln cap="flat" cmpd="sng" w="12600">
            <a:solidFill>
              <a:srgbClr val="97B1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317200" y="1499040"/>
            <a:ext cx="1173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Inicial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536520" y="1499040"/>
            <a:ext cx="1173240" cy="548280"/>
          </a:xfrm>
          <a:prstGeom prst="roundRect">
            <a:avLst>
              <a:gd fmla="val 8333" name="adj"/>
            </a:avLst>
          </a:prstGeom>
          <a:solidFill>
            <a:srgbClr val="A4B6B8"/>
          </a:solidFill>
          <a:ln cap="flat" cmpd="sng" w="12600">
            <a:solidFill>
              <a:srgbClr val="A4B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536520" y="1499040"/>
            <a:ext cx="1173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Conectado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755480" y="1499040"/>
            <a:ext cx="1173240" cy="548280"/>
          </a:xfrm>
          <a:prstGeom prst="roundRect">
            <a:avLst>
              <a:gd fmla="val 8333" name="adj"/>
            </a:avLst>
          </a:prstGeom>
          <a:solidFill>
            <a:srgbClr val="97B1DF"/>
          </a:solidFill>
          <a:ln cap="flat" cmpd="sng" w="12600">
            <a:solidFill>
              <a:srgbClr val="97B1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755480" y="1499040"/>
            <a:ext cx="1173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Visível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317200" y="2139120"/>
            <a:ext cx="1173240" cy="548280"/>
          </a:xfrm>
          <a:prstGeom prst="roundRect">
            <a:avLst>
              <a:gd fmla="val 8333" name="adj"/>
            </a:avLst>
          </a:prstGeom>
          <a:solidFill>
            <a:srgbClr val="A4B6B8"/>
          </a:solidFill>
          <a:ln cap="flat" cmpd="sng" w="12600">
            <a:solidFill>
              <a:srgbClr val="A4B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317200" y="2139120"/>
            <a:ext cx="1173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Transparente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536520" y="2139120"/>
            <a:ext cx="1173240" cy="548280"/>
          </a:xfrm>
          <a:prstGeom prst="roundRect">
            <a:avLst>
              <a:gd fmla="val 8333" name="adj"/>
            </a:avLst>
          </a:prstGeom>
          <a:solidFill>
            <a:srgbClr val="97B1DF"/>
          </a:solidFill>
          <a:ln cap="flat" cmpd="sng" w="12600">
            <a:solidFill>
              <a:srgbClr val="97B1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536520" y="2139120"/>
            <a:ext cx="1173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Preditivo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755480" y="2139120"/>
            <a:ext cx="1173240" cy="548280"/>
          </a:xfrm>
          <a:prstGeom prst="roundRect">
            <a:avLst>
              <a:gd fmla="val 8333" name="adj"/>
            </a:avLst>
          </a:prstGeom>
          <a:solidFill>
            <a:srgbClr val="A4B6B8"/>
          </a:solidFill>
          <a:ln cap="flat" cmpd="sng" w="12600">
            <a:solidFill>
              <a:srgbClr val="A4B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755480" y="2139120"/>
            <a:ext cx="1173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Autônomo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4777920"/>
            <a:ext cx="8229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6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5" title="generated-image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0e8eda04f_1_0"/>
          <p:cNvSpPr/>
          <p:nvPr/>
        </p:nvSpPr>
        <p:spPr>
          <a:xfrm>
            <a:off x="274320" y="274320"/>
            <a:ext cx="859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Modelos de Maturidade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a0e8eda04f_1_0"/>
          <p:cNvSpPr/>
          <p:nvPr/>
        </p:nvSpPr>
        <p:spPr>
          <a:xfrm>
            <a:off x="457200" y="1280160"/>
            <a:ext cx="50289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203140" lvl="0" marL="190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Noto Sans Symbols"/>
              <a:buChar char="∙"/>
            </a:pP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Medida quantitativa do impacto da transformação digital.</a:t>
            </a:r>
            <a:endParaRPr b="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140" lvl="0" marL="19044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Noto Sans Symbols"/>
              <a:buChar char="∙"/>
            </a:pP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Avalia progresso, identifica lacunas e orienta investimentos.</a:t>
            </a:r>
            <a:endParaRPr b="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140" lvl="0" marL="19044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Noto Sans Symbols"/>
              <a:buChar char="∙"/>
            </a:pP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Evolução incremental: conectar ativos, consolidar dados, analisar, prever e automatizar.</a:t>
            </a:r>
            <a:endParaRPr b="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a0e8eda04f_1_0"/>
          <p:cNvSpPr/>
          <p:nvPr/>
        </p:nvSpPr>
        <p:spPr>
          <a:xfrm>
            <a:off x="5317200" y="1499040"/>
            <a:ext cx="1173300" cy="548400"/>
          </a:xfrm>
          <a:prstGeom prst="roundRect">
            <a:avLst>
              <a:gd fmla="val 8333" name="adj"/>
            </a:avLst>
          </a:prstGeom>
          <a:solidFill>
            <a:srgbClr val="97B1DF"/>
          </a:solidFill>
          <a:ln cap="flat" cmpd="sng" w="12600">
            <a:solidFill>
              <a:srgbClr val="97B1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a0e8eda04f_1_0"/>
          <p:cNvSpPr/>
          <p:nvPr/>
        </p:nvSpPr>
        <p:spPr>
          <a:xfrm>
            <a:off x="6536520" y="1499040"/>
            <a:ext cx="1173300" cy="548400"/>
          </a:xfrm>
          <a:prstGeom prst="roundRect">
            <a:avLst>
              <a:gd fmla="val 8333" name="adj"/>
            </a:avLst>
          </a:prstGeom>
          <a:solidFill>
            <a:srgbClr val="A4B6B8"/>
          </a:solidFill>
          <a:ln cap="flat" cmpd="sng" w="12600">
            <a:solidFill>
              <a:srgbClr val="A4B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a0e8eda04f_1_0"/>
          <p:cNvSpPr/>
          <p:nvPr/>
        </p:nvSpPr>
        <p:spPr>
          <a:xfrm>
            <a:off x="7755480" y="1499040"/>
            <a:ext cx="1173300" cy="548400"/>
          </a:xfrm>
          <a:prstGeom prst="roundRect">
            <a:avLst>
              <a:gd fmla="val 8333" name="adj"/>
            </a:avLst>
          </a:prstGeom>
          <a:solidFill>
            <a:srgbClr val="97B1DF"/>
          </a:solidFill>
          <a:ln cap="flat" cmpd="sng" w="12600">
            <a:solidFill>
              <a:srgbClr val="97B1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a0e8eda04f_1_0"/>
          <p:cNvSpPr/>
          <p:nvPr/>
        </p:nvSpPr>
        <p:spPr>
          <a:xfrm>
            <a:off x="5317200" y="2139120"/>
            <a:ext cx="1173300" cy="548400"/>
          </a:xfrm>
          <a:prstGeom prst="roundRect">
            <a:avLst>
              <a:gd fmla="val 8333" name="adj"/>
            </a:avLst>
          </a:prstGeom>
          <a:solidFill>
            <a:srgbClr val="A4B6B8"/>
          </a:solidFill>
          <a:ln cap="flat" cmpd="sng" w="12600">
            <a:solidFill>
              <a:srgbClr val="A4B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a0e8eda04f_1_0"/>
          <p:cNvSpPr/>
          <p:nvPr/>
        </p:nvSpPr>
        <p:spPr>
          <a:xfrm>
            <a:off x="6536520" y="2139120"/>
            <a:ext cx="1173300" cy="548400"/>
          </a:xfrm>
          <a:prstGeom prst="roundRect">
            <a:avLst>
              <a:gd fmla="val 8333" name="adj"/>
            </a:avLst>
          </a:prstGeom>
          <a:solidFill>
            <a:srgbClr val="97B1DF"/>
          </a:solidFill>
          <a:ln cap="flat" cmpd="sng" w="12600">
            <a:solidFill>
              <a:srgbClr val="97B1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a0e8eda04f_1_0"/>
          <p:cNvSpPr/>
          <p:nvPr/>
        </p:nvSpPr>
        <p:spPr>
          <a:xfrm>
            <a:off x="7755480" y="2139120"/>
            <a:ext cx="1173300" cy="548400"/>
          </a:xfrm>
          <a:prstGeom prst="roundRect">
            <a:avLst>
              <a:gd fmla="val 8333" name="adj"/>
            </a:avLst>
          </a:prstGeom>
          <a:solidFill>
            <a:srgbClr val="A4B6B8"/>
          </a:solidFill>
          <a:ln cap="flat" cmpd="sng" w="12600">
            <a:solidFill>
              <a:srgbClr val="A4B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a0e8eda04f_1_0"/>
          <p:cNvSpPr/>
          <p:nvPr/>
        </p:nvSpPr>
        <p:spPr>
          <a:xfrm>
            <a:off x="457200" y="4777920"/>
            <a:ext cx="8229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6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g3a0e8eda04f_1_0" title="generated-image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a0e8eda04f_1_0"/>
          <p:cNvSpPr/>
          <p:nvPr/>
        </p:nvSpPr>
        <p:spPr>
          <a:xfrm>
            <a:off x="5317200" y="1499040"/>
            <a:ext cx="117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Indefinido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a0e8eda04f_1_0"/>
          <p:cNvSpPr/>
          <p:nvPr/>
        </p:nvSpPr>
        <p:spPr>
          <a:xfrm>
            <a:off x="6536520" y="1499040"/>
            <a:ext cx="117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Definido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a0e8eda04f_1_0"/>
          <p:cNvSpPr/>
          <p:nvPr/>
        </p:nvSpPr>
        <p:spPr>
          <a:xfrm>
            <a:off x="7755480" y="1499040"/>
            <a:ext cx="117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a0e8eda04f_1_0"/>
          <p:cNvSpPr/>
          <p:nvPr/>
        </p:nvSpPr>
        <p:spPr>
          <a:xfrm>
            <a:off x="5317200" y="2139120"/>
            <a:ext cx="117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Integrado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a0e8eda04f_1_0"/>
          <p:cNvSpPr/>
          <p:nvPr/>
        </p:nvSpPr>
        <p:spPr>
          <a:xfrm>
            <a:off x="6536520" y="2139120"/>
            <a:ext cx="117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Automatizado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a0e8eda04f_1_0"/>
          <p:cNvSpPr/>
          <p:nvPr/>
        </p:nvSpPr>
        <p:spPr>
          <a:xfrm>
            <a:off x="7755480" y="2139120"/>
            <a:ext cx="117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Inteligente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Modelo acatech </a:t>
            </a:r>
            <a:r>
              <a:rPr lang="en-US" sz="2400">
                <a:solidFill>
                  <a:srgbClr val="030A18"/>
                </a:solidFill>
              </a:rPr>
              <a:t>→ </a:t>
            </a: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Visão Geral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" name="Google Shape;106;p6"/>
          <p:cNvGraphicFramePr/>
          <p:nvPr/>
        </p:nvGraphicFramePr>
        <p:xfrm>
          <a:off x="45720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{BA449FFD-9D96-476F-8BB2-E6B539298375}</a:tableStyleId>
              </a:tblPr>
              <a:tblGrid>
                <a:gridCol w="2514600"/>
                <a:gridCol w="2514600"/>
              </a:tblGrid>
              <a:tr h="29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</a:t>
                      </a:r>
                      <a:endParaRPr b="0" sz="12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Descrição</a:t>
                      </a:r>
                      <a:endParaRPr b="0" sz="12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</a:tr>
              <a:tr h="50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Sistemas de Informação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Infraestrutura de TI e sistemas de suporte à produção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71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Recursos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Máquinas, equipamentos e dados utilizados na cadeia de valor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Estrutura Organizacional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Processos e hierarquias que orientam a tomada de decisão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71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Cultura Corporativa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Atitudes, aprendizagem contínua e disposição à inovação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107;p6"/>
          <p:cNvSpPr/>
          <p:nvPr/>
        </p:nvSpPr>
        <p:spPr>
          <a:xfrm>
            <a:off x="5669280" y="1333994"/>
            <a:ext cx="34743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  <a:t>Origem e Objetivo</a:t>
            </a:r>
            <a:endParaRPr b="0" sz="16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Desenvolvido pela academia e indústria alemãs sob coordenação da acatech, o índice ajuda empresas a planejar sua transformação digital de forma estruturada e transparente. A análise abrange toda a cadeia de valor, da engenharia à logística e vendas.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4777920"/>
            <a:ext cx="8229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7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8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77800" y="3230316"/>
            <a:ext cx="2028322" cy="17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 title="generated-image (1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acatech </a:t>
            </a:r>
            <a:r>
              <a:rPr lang="en-US" sz="2400">
                <a:solidFill>
                  <a:srgbClr val="030A18"/>
                </a:solidFill>
              </a:rPr>
              <a:t>→</a:t>
            </a: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 Estrutura do Modelo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7" name="Google Shape;117;p8"/>
          <p:cNvGraphicFramePr/>
          <p:nvPr/>
        </p:nvGraphicFramePr>
        <p:xfrm>
          <a:off x="45720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{BA449FFD-9D96-476F-8BB2-E6B539298375}</a:tableStyleId>
              </a:tblPr>
              <a:tblGrid>
                <a:gridCol w="2743200"/>
                <a:gridCol w="2743200"/>
                <a:gridCol w="2743200"/>
              </a:tblGrid>
              <a:tr h="460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Quantidade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Descrição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</a:tr>
              <a:tr h="46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Áreas (Campos)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Recursos, Sistemas de Informação, Estrutura Organizacional e Cultura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6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Princípios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Dois princípios básicos por área estrutural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Capacidades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100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Conjunto de 28 capacidades que viabilizam cada princípio (ex.: integração de sistemas, análise de dados, tomada de decisão autônoma)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8"/>
          <p:cNvSpPr/>
          <p:nvPr/>
        </p:nvSpPr>
        <p:spPr>
          <a:xfrm>
            <a:off x="457200" y="3657600"/>
            <a:ext cx="8229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O índice divide a empresa em quatro áreas estruturais. Cada área possui dois princípios fundamentais e estes princípios são desdobrados em capacidades práticas que permitem a transformação digital.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57200" y="4777920"/>
            <a:ext cx="8229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9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8" title="generated-image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Modelo acatech </a:t>
            </a:r>
            <a:r>
              <a:rPr lang="en-US" sz="2400">
                <a:solidFill>
                  <a:srgbClr val="030A18"/>
                </a:solidFill>
              </a:rPr>
              <a:t>→</a:t>
            </a: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 Estágios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02920" y="1828800"/>
            <a:ext cx="1279800" cy="822600"/>
          </a:xfrm>
          <a:prstGeom prst="rect">
            <a:avLst/>
          </a:prstGeom>
          <a:solidFill>
            <a:srgbClr val="97B1DF"/>
          </a:solidFill>
          <a:ln cap="flat" cmpd="sng" w="12600">
            <a:solidFill>
              <a:srgbClr val="97B1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02920" y="1874520"/>
            <a:ext cx="12798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Computadorização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02920" y="2148840"/>
            <a:ext cx="12798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Tecnologias isoladas para tarefas repetitivas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874520" y="1828800"/>
            <a:ext cx="1279800" cy="822600"/>
          </a:xfrm>
          <a:prstGeom prst="rect">
            <a:avLst/>
          </a:prstGeom>
          <a:solidFill>
            <a:srgbClr val="A4B6B8"/>
          </a:solidFill>
          <a:ln cap="flat" cmpd="sng" w="12600">
            <a:solidFill>
              <a:srgbClr val="A4B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874520" y="1874520"/>
            <a:ext cx="12798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Conectividade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874520" y="2148840"/>
            <a:ext cx="12798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Sistemas de TI interoperáveis e conectados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246120" y="1828800"/>
            <a:ext cx="1279800" cy="822600"/>
          </a:xfrm>
          <a:prstGeom prst="rect">
            <a:avLst/>
          </a:prstGeom>
          <a:solidFill>
            <a:srgbClr val="97B1DF"/>
          </a:solidFill>
          <a:ln cap="flat" cmpd="sng" w="12600">
            <a:solidFill>
              <a:srgbClr val="97B1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246120" y="1874520"/>
            <a:ext cx="12798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Visibilidade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246120" y="2148840"/>
            <a:ext cx="12798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Sensores geram uma sombra digital em tempo real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617720" y="1828800"/>
            <a:ext cx="1279800" cy="822600"/>
          </a:xfrm>
          <a:prstGeom prst="rect">
            <a:avLst/>
          </a:prstGeom>
          <a:solidFill>
            <a:srgbClr val="A4B6B8"/>
          </a:solidFill>
          <a:ln cap="flat" cmpd="sng" w="12600">
            <a:solidFill>
              <a:srgbClr val="A4B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617720" y="1874520"/>
            <a:ext cx="12798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Transparência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617720" y="2148840"/>
            <a:ext cx="12798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de dados para entender causa e efeito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989320" y="1828800"/>
            <a:ext cx="1279800" cy="822600"/>
          </a:xfrm>
          <a:prstGeom prst="rect">
            <a:avLst/>
          </a:prstGeom>
          <a:solidFill>
            <a:srgbClr val="97B1DF"/>
          </a:solidFill>
          <a:ln cap="flat" cmpd="sng" w="12600">
            <a:solidFill>
              <a:srgbClr val="97B1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989320" y="1874520"/>
            <a:ext cx="12798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Previsão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989320" y="2148840"/>
            <a:ext cx="12798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Modelos preditivos e simulações de cenários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360920" y="1828800"/>
            <a:ext cx="1279800" cy="822600"/>
          </a:xfrm>
          <a:prstGeom prst="rect">
            <a:avLst/>
          </a:prstGeom>
          <a:solidFill>
            <a:srgbClr val="A4B6B8"/>
          </a:solidFill>
          <a:ln cap="flat" cmpd="sng" w="12600">
            <a:solidFill>
              <a:srgbClr val="A4B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360920" y="1874520"/>
            <a:ext cx="12798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Adaptabilidade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360920" y="2148840"/>
            <a:ext cx="12798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Sistemas tomam decisões e se adaptam sozinhos</a:t>
            </a:r>
            <a:endParaRPr b="0" sz="10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57200" y="4777920"/>
            <a:ext cx="8229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11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7" title="generated-image (1)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Modelo SIRI </a:t>
            </a:r>
            <a:r>
              <a:rPr lang="en-US" sz="2400">
                <a:solidFill>
                  <a:srgbClr val="030A18"/>
                </a:solidFill>
              </a:rPr>
              <a:t>→</a:t>
            </a: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 Visão Geral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57200" y="1280160"/>
            <a:ext cx="438876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Lançado em 2017 pela Economic Development Board de Singapura com apoio da TÜV SÜD, o SIRI é uma ferramenta global para orientar a jornada de transformação digital.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O framework divide a Indústria 4.0 em três blocos fundamentais: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0" y="1737360"/>
            <a:ext cx="365400" cy="3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/>
          <p:nvPr/>
        </p:nvSpPr>
        <p:spPr>
          <a:xfrm>
            <a:off x="6217920" y="1737360"/>
            <a:ext cx="21942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  <a:t>Processos</a:t>
            </a:r>
            <a:endParaRPr b="0" sz="9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217920" y="2011680"/>
            <a:ext cx="21942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Foca em operações, cadeia de suprimentos e ciclo de vida do produto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7" name="Google Shape;15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0" y="2468880"/>
            <a:ext cx="365400" cy="3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/>
          <p:nvPr/>
        </p:nvSpPr>
        <p:spPr>
          <a:xfrm>
            <a:off x="6217920" y="2468880"/>
            <a:ext cx="21942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  <a:t>Tecnologia</a:t>
            </a:r>
            <a:endParaRPr b="0" sz="9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217920" y="2743200"/>
            <a:ext cx="21942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Avalia automação, conectividade e inteligência de dados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0" name="Google Shape;16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0720" y="3200400"/>
            <a:ext cx="365400" cy="3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6217920" y="3200400"/>
            <a:ext cx="21942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  <a:t>Organização</a:t>
            </a:r>
            <a:endParaRPr b="0" sz="9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200" y="3761990"/>
            <a:ext cx="82293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Cada bloco é sustentado por 8 pilares e 16 dimensões, avaliadas por uma matriz que orienta melhorias passo a passo.</a:t>
            </a:r>
            <a:endParaRPr b="0" sz="13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217920" y="3474720"/>
            <a:ext cx="21942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Examina talentos, estrutura e governança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57200" y="4777920"/>
            <a:ext cx="8229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4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6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9" title="generated-image (1)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90243b3b4_0_5"/>
          <p:cNvSpPr/>
          <p:nvPr/>
        </p:nvSpPr>
        <p:spPr>
          <a:xfrm>
            <a:off x="501300" y="4144995"/>
            <a:ext cx="82293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Cada bloco é sustentado por 8 pilares e 16 dimensões, avaliadas por uma matriz que orienta melhorias passo a passo.</a:t>
            </a:r>
            <a:endParaRPr b="0" sz="12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790243b3b4_0_5"/>
          <p:cNvSpPr/>
          <p:nvPr/>
        </p:nvSpPr>
        <p:spPr>
          <a:xfrm>
            <a:off x="274320" y="274320"/>
            <a:ext cx="859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Modelo SIRI </a:t>
            </a:r>
            <a:r>
              <a:rPr lang="en-US" sz="2400">
                <a:solidFill>
                  <a:srgbClr val="030A18"/>
                </a:solidFill>
              </a:rPr>
              <a:t>→</a:t>
            </a: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 Visão Geral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3790243b3b4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300" y="857250"/>
            <a:ext cx="8025675" cy="3536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790243b3b4_0_5" title="generated-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71f47ea69_0_42"/>
          <p:cNvSpPr/>
          <p:nvPr/>
        </p:nvSpPr>
        <p:spPr>
          <a:xfrm>
            <a:off x="501300" y="4144995"/>
            <a:ext cx="82293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Cada bloco é sustentado por 8 pilares e 16 dimensões, avaliadas por uma matriz que orienta melhorias passo a passo.</a:t>
            </a:r>
            <a:endParaRPr b="0" sz="12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871f47ea69_0_42"/>
          <p:cNvSpPr/>
          <p:nvPr/>
        </p:nvSpPr>
        <p:spPr>
          <a:xfrm>
            <a:off x="274320" y="274320"/>
            <a:ext cx="859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Modelo SIRI </a:t>
            </a:r>
            <a:r>
              <a:rPr lang="en-US" sz="2400">
                <a:solidFill>
                  <a:srgbClr val="030A18"/>
                </a:solidFill>
              </a:rPr>
              <a:t>→</a:t>
            </a: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 Visão Geral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g3871f47ea69_0_42" title="are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375" y="873100"/>
            <a:ext cx="3510475" cy="339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g3871f47ea69_0_42"/>
          <p:cNvCxnSpPr/>
          <p:nvPr/>
        </p:nvCxnSpPr>
        <p:spPr>
          <a:xfrm>
            <a:off x="3642425" y="1781525"/>
            <a:ext cx="643800" cy="114600"/>
          </a:xfrm>
          <a:prstGeom prst="straightConnector1">
            <a:avLst/>
          </a:prstGeom>
          <a:noFill/>
          <a:ln cap="flat" cmpd="sng" w="22800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4" name="Google Shape;184;g3871f47ea69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4075" y="873095"/>
            <a:ext cx="2330211" cy="306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871f47ea69_0_42" title="generated-imag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871f47ea69_0_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24075" y="873100"/>
            <a:ext cx="3458251" cy="243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SIRI </a:t>
            </a:r>
            <a:r>
              <a:rPr lang="en-US" sz="2400">
                <a:solidFill>
                  <a:srgbClr val="030A18"/>
                </a:solidFill>
              </a:rPr>
              <a:t>→</a:t>
            </a: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 Pilares e Dimensões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3" name="Google Shape;193;p10"/>
          <p:cNvGraphicFramePr/>
          <p:nvPr/>
        </p:nvGraphicFramePr>
        <p:xfrm>
          <a:off x="45720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{BA449FFD-9D96-476F-8BB2-E6B539298375}</a:tableStyleId>
              </a:tblPr>
              <a:tblGrid>
                <a:gridCol w="4114800"/>
                <a:gridCol w="4114800"/>
              </a:tblGrid>
              <a:tr h="32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Pilar</a:t>
                      </a:r>
                      <a:endParaRPr b="0" sz="12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Exemplos de Dimensões</a:t>
                      </a:r>
                      <a:endParaRPr b="0" sz="12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</a:tr>
              <a:tr h="3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Operações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Eficiência de produção, integração vertical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Cadeia de Suprimentos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Integração horizontal, rastreabilidade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Ciclo de Vida do Produto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Integração das fases de desenvolvimento e serviço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Automação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automação e robótica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Conectividade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Infraestrutura de rede, interoperabilidade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Inteligência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Analytics, IA e tomada de decisão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Talento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Competências digitais e aprendizagem contínua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Estrutura &amp; Gestão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Governança, liderança e cultura de inovação</a:t>
                      </a:r>
                      <a:endParaRPr b="0" sz="11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10"/>
          <p:cNvSpPr/>
          <p:nvPr/>
        </p:nvSpPr>
        <p:spPr>
          <a:xfrm>
            <a:off x="457200" y="4777920"/>
            <a:ext cx="8229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17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18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10" title="generated-image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Comparação: acatech vs SIRI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2" name="Google Shape;202;p11"/>
          <p:cNvGraphicFramePr/>
          <p:nvPr/>
        </p:nvGraphicFramePr>
        <p:xfrm>
          <a:off x="45720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{BA449FFD-9D96-476F-8BB2-E6B539298375}</a:tableStyleId>
              </a:tblPr>
              <a:tblGrid>
                <a:gridCol w="2743200"/>
                <a:gridCol w="2743200"/>
                <a:gridCol w="2743200"/>
              </a:tblGrid>
              <a:tr h="44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Critério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acatech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SIRI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</a:tr>
              <a:tr h="44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Origem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Alemanha; consórcio acadêmico‑industrial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Singapura; iniciativa da EDB com TÜV SÜD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4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Estrutura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estágios sequenciais de maturidade em 4 áreas 16 princípios e 28 capacidades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estágios de maturidade em </a:t>
                      </a: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blocos, 8 pilares e 16 dimensões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Componentes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Áreas: sistemas de informação, recursos, estrutura, cultura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Pilares: operações, supply chain, ciclo de vida, automação, conectividade, inteligência, talento, gestão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4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Avaliação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partir do d</a:t>
                      </a: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iagnóstico qualitativo </a:t>
                      </a:r>
                      <a:r>
                        <a:rPr lang="en-US" sz="1000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cada  capacidade (mais granular)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partir do diagnóstico qualitativo</a:t>
                      </a: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000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</a:t>
                      </a: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cada dimensão (mais geral)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Saída Esperad</a:t>
                      </a:r>
                      <a:r>
                        <a:rPr lang="en-US" sz="1000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Fornecer um r</a:t>
                      </a: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oteiro de transformação e visão de longo prazo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Habilitar a p</a:t>
                      </a: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riori</a:t>
                      </a:r>
                      <a:r>
                        <a:rPr lang="en-US" sz="1000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zação</a:t>
                      </a: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investimentos e realizar    benchmarkings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11"/>
          <p:cNvSpPr/>
          <p:nvPr/>
        </p:nvSpPr>
        <p:spPr>
          <a:xfrm>
            <a:off x="457200" y="4777920"/>
            <a:ext cx="8229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19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11" title="generated-image (1)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Mapeamento acatech x SIRI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1" name="Google Shape;211;p12"/>
          <p:cNvGraphicFramePr/>
          <p:nvPr/>
        </p:nvGraphicFramePr>
        <p:xfrm>
          <a:off x="45720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{BA449FFD-9D96-476F-8BB2-E6B539298375}</a:tableStyleId>
              </a:tblPr>
              <a:tblGrid>
                <a:gridCol w="2743200"/>
                <a:gridCol w="2743200"/>
                <a:gridCol w="2743200"/>
              </a:tblGrid>
              <a:tr h="232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Campo/Princípio (acatech)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Capacidade (acatech)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Pilar/Dimensão (SIRI)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B1DF"/>
                    </a:solidFill>
                  </a:tcPr>
                </a:tc>
              </a:tr>
              <a:tr h="23220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Recursos →  Capacidade digital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Competências digitais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Organização →  Estrutura de Trabalho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32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Aquisição automatizada de dados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Tecnologia → Conectividade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2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Pré-processamento descentralizado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Tecnologia → Inteligência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322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Recursos → Comunicação estruturada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Comunicação eficiente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Tecnologia → Conectividade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2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Interfaces orientadas à tarefa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Tecnologia → Automação / Inteligência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3220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Sistemas de Informação → Processamento de autoaprendizado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Análise de dados automatizada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Tecnologia → Inteligência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2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de informação contextualizada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Tecnologia → Inteligência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32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Interface de usuário específica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Tecnologia → Automação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2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Infraestrutura de TI resiliente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Tecnologia → Conectividade / Cibersegurança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3220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Sistemas de Informação → Integração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Integração horizontal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Processo → Cadeia de Suprimentos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2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Integração vertical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Processo → Operações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32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Governança de dados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30A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Tecnologia → Cibersegurança / Inteligência</a:t>
                      </a:r>
                      <a:endParaRPr b="0" sz="1000" u="none" cap="none" strike="noStrike">
                        <a:solidFill>
                          <a:srgbClr val="729FC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7B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12"/>
          <p:cNvSpPr/>
          <p:nvPr/>
        </p:nvSpPr>
        <p:spPr>
          <a:xfrm>
            <a:off x="457200" y="4777920"/>
            <a:ext cx="8229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</a:t>
            </a:r>
            <a:r>
              <a:rPr b="0" lang="en-US" sz="1100" u="sng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b="0" sz="11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12" title="generated-image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30A18"/>
                </a:solidFill>
              </a:rPr>
              <a:t>Estratégia do modelo adaptado ao Brasil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0" name="Google Shape;2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456840" cy="4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3"/>
          <p:cNvSpPr/>
          <p:nvPr/>
        </p:nvSpPr>
        <p:spPr>
          <a:xfrm>
            <a:off x="1005840" y="1280160"/>
            <a:ext cx="7680600" cy="2285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914400" rtl="0" algn="l">
              <a:spcBef>
                <a:spcPts val="479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Ganhar uma linguagem compatível com o comércio exterior (via SIRI) sem abrir mão da profundidade organizacional necessária para mudanças duradouras (via acatech) - </a:t>
            </a:r>
            <a:r>
              <a:rPr lang="en-US" sz="17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Condição-chave para competitividade global.</a:t>
            </a:r>
            <a:endParaRPr b="1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3" title="generated-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fbfc5c24a_0_34"/>
          <p:cNvSpPr/>
          <p:nvPr/>
        </p:nvSpPr>
        <p:spPr>
          <a:xfrm>
            <a:off x="274320" y="274320"/>
            <a:ext cx="859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30A18"/>
                </a:solidFill>
              </a:rPr>
              <a:t>Estratégia do modelo adaptado ao Brasil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9" name="Google Shape;229;g39fbfc5c24a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456840" cy="4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9fbfc5c24a_0_34"/>
          <p:cNvSpPr/>
          <p:nvPr/>
        </p:nvSpPr>
        <p:spPr>
          <a:xfrm>
            <a:off x="1005840" y="1280160"/>
            <a:ext cx="76806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203140" lvl="0" marL="190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Noto Sans Symbols"/>
              <a:buChar char="∙"/>
            </a:pP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Usar as </a:t>
            </a:r>
            <a:r>
              <a:rPr b="1" i="1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1"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1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capacidades</a:t>
            </a: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do acatech como </a:t>
            </a:r>
            <a:r>
              <a:rPr b="1" i="1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variáveis de medição</a:t>
            </a: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do modelo adaptado.</a:t>
            </a:r>
            <a:endParaRPr b="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140" lvl="0" marL="19044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Noto Sans Symbols"/>
              <a:buChar char="∙"/>
            </a:pP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Combinar essas variáveis com os blocos de processo, tecnologia e organização do SIRI.</a:t>
            </a:r>
            <a:endParaRPr b="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140" lvl="0" marL="19044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Noto Sans Symbols"/>
              <a:buChar char="∙"/>
            </a:pP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Buscar na literatura a medição dessas </a:t>
            </a: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variáveis</a:t>
            </a: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em estudos acadêmicos, preferencialmente em estudos de caso.</a:t>
            </a:r>
            <a:endParaRPr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140" lvl="0" marL="19044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Noto Sans Symbols"/>
              <a:buChar char="∙"/>
            </a:pP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Estimativa inicial: </a:t>
            </a:r>
            <a:r>
              <a:rPr b="1" i="1"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cerca de 87 </a:t>
            </a:r>
            <a:r>
              <a:rPr b="1" i="1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variáveis</a:t>
            </a:r>
            <a:r>
              <a:rPr b="0" lang="en-US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de medição ao todo (em revisão).</a:t>
            </a:r>
            <a:endParaRPr b="0" strike="noStrike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Uso dos seis estágios do modelo acatech → equivalências mapeadas.</a:t>
            </a:r>
            <a:endParaRPr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479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Cada variável com pelo menos </a:t>
            </a:r>
            <a:r>
              <a:rPr b="1" i="1"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6 respostas</a:t>
            </a: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1"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~210 respostas</a:t>
            </a: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479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Sensibilidade do índice por volta de </a:t>
            </a:r>
            <a:r>
              <a:rPr b="1"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0,012 pontos.</a:t>
            </a:r>
            <a:endParaRPr b="1" sz="11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g39fbfc5c24a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8850" y="2935425"/>
            <a:ext cx="2073800" cy="204794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9fbfc5c24a_0_34"/>
          <p:cNvSpPr txBox="1"/>
          <p:nvPr/>
        </p:nvSpPr>
        <p:spPr>
          <a:xfrm>
            <a:off x="274325" y="4034125"/>
            <a:ext cx="653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5"/>
              </a:rPr>
              <a:t>https://docs.google.com/document/d/1EfQlC9fEPWtEUap9fuFSdc3Tyn6IPWkz6CgYk76xKus/edit?usp=sharing</a:t>
            </a:r>
            <a:r>
              <a:rPr lang="en-US" sz="1000"/>
              <a:t> </a:t>
            </a:r>
            <a:endParaRPr sz="1000"/>
          </a:p>
        </p:txBody>
      </p:sp>
      <p:pic>
        <p:nvPicPr>
          <p:cNvPr id="233" name="Google Shape;233;g39fbfc5c24a_0_34" title="generated-image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7817ba2c0_0_3"/>
          <p:cNvSpPr/>
          <p:nvPr/>
        </p:nvSpPr>
        <p:spPr>
          <a:xfrm>
            <a:off x="274320" y="274320"/>
            <a:ext cx="859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30A18"/>
                </a:solidFill>
              </a:rPr>
              <a:t>Etapas da Avaliação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0" name="Google Shape;240;g387817ba2c0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456840" cy="4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87817ba2c0_0_3"/>
          <p:cNvSpPr/>
          <p:nvPr/>
        </p:nvSpPr>
        <p:spPr>
          <a:xfrm>
            <a:off x="1005840" y="1803335"/>
            <a:ext cx="76806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Noto Sans Symbols"/>
              <a:buChar char="∙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Autoavaliação – realizada pela própria organização, uma etapa de preparação.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Checklists e planilhas de seleção de evidências, e;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Status corrente e salto esperado.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Noto Sans Symbols"/>
              <a:buChar char="∙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Auditoria – avaliação independente, conduzida por laboratório acreditado.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Noto Sans Symbols"/>
              <a:buChar char="∙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Publicação do resultado – assegura transparência e confiabilidade.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Noto Sans Symbols"/>
              <a:buChar char="∙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Validade: </a:t>
            </a:r>
            <a:r>
              <a:rPr b="1"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4 anos</a:t>
            </a: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– garante atualização periódica.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g387817ba2c0_0_3" title="generated-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71f47ea69_0_19"/>
          <p:cNvSpPr/>
          <p:nvPr/>
        </p:nvSpPr>
        <p:spPr>
          <a:xfrm>
            <a:off x="274320" y="274320"/>
            <a:ext cx="859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30A18"/>
                </a:solidFill>
              </a:rPr>
              <a:t>Etapas da Avaliação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9" name="Google Shape;249;g3871f47ea69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456840" cy="4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871f47ea69_0_19"/>
          <p:cNvSpPr/>
          <p:nvPr/>
        </p:nvSpPr>
        <p:spPr>
          <a:xfrm>
            <a:off x="1005840" y="1803335"/>
            <a:ext cx="76806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Noto Sans Symbols"/>
              <a:buChar char="∙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Critérios de amostragem (regra prática): 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Cobrir variação real (incremental): tipos de projeto/produto, tecnologias, equipes e fornecedores;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Incluir casos novos e maduros (início e manutenção e não somente idealizados), e;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Para cada questão, </a:t>
            </a: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pelo meno</a:t>
            </a: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s 2 exemplos  em diferentes projetos ou lotes de produção dentro do escopo de avaliação.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Preferencialmente, selecionar evidências com até 90 dias do início da avaliação ou 5 ocorrências </a:t>
            </a: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independentemente</a:t>
            </a: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da data.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g3871f47ea69_0_19" title="generated-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71f47ea69_0_31"/>
          <p:cNvSpPr/>
          <p:nvPr/>
        </p:nvSpPr>
        <p:spPr>
          <a:xfrm>
            <a:off x="274320" y="274320"/>
            <a:ext cx="859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30A18"/>
                </a:solidFill>
              </a:rPr>
              <a:t>Modelo de Governança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8" name="Google Shape;258;g3871f47ea69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456840" cy="4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871f47ea69_0_31"/>
          <p:cNvSpPr/>
          <p:nvPr/>
        </p:nvSpPr>
        <p:spPr>
          <a:xfrm>
            <a:off x="1005840" y="1280160"/>
            <a:ext cx="76806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Noto Sans Symbols"/>
              <a:buChar char="∙"/>
            </a:pP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Inmetro como mantenedor </a:t>
            </a: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do modelo:</a:t>
            </a:r>
            <a:endParaRPr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Calibri"/>
              <a:buAutoNum type="arabicPeriod"/>
            </a:pP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Formalização via</a:t>
            </a:r>
            <a:r>
              <a:rPr b="1"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Portaria do Inmetro e, possivelmente, DOQ</a:t>
            </a:r>
            <a:endParaRPr b="1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Calibri"/>
              <a:buAutoNum type="arabicPeriod"/>
            </a:pP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Documento oficial garante </a:t>
            </a:r>
            <a:r>
              <a:rPr b="1"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legitimidade e padronização</a:t>
            </a: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nacional</a:t>
            </a:r>
            <a:endParaRPr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Calibri"/>
              <a:buAutoNum type="arabicPeriod"/>
            </a:pP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Manutenção da lista e a validade das avaliações das empresas.</a:t>
            </a:r>
            <a:endParaRPr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Calibri"/>
              <a:buAutoNum type="arabicPeriod"/>
            </a:pP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Idealmente, somente avaliações realizadas por  l</a:t>
            </a:r>
            <a:r>
              <a:rPr b="1"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aboratórios acreditados</a:t>
            </a:r>
            <a:endParaRPr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400"/>
              <a:buFont typeface="Calibri"/>
              <a:buAutoNum type="arabicPeriod"/>
            </a:pPr>
            <a:r>
              <a:rPr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Referência para definição de políticas  de modernização industrial em nível </a:t>
            </a:r>
            <a:r>
              <a:rPr b="1"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nacional, </a:t>
            </a:r>
            <a:r>
              <a:rPr b="1"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estadual</a:t>
            </a:r>
            <a:r>
              <a:rPr b="1" lang="en-US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e municipal</a:t>
            </a:r>
            <a:endParaRPr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g3871f47ea69_0_31" title="generated-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30A18"/>
                </a:solidFill>
              </a:rPr>
              <a:t>Planejamento (2025)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7" name="Google Shape;2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45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4" title="generated-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837250"/>
            <a:ext cx="9144000" cy="3129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71f47ea69_0_1"/>
          <p:cNvSpPr/>
          <p:nvPr/>
        </p:nvSpPr>
        <p:spPr>
          <a:xfrm>
            <a:off x="274320" y="274320"/>
            <a:ext cx="859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30A18"/>
                </a:solidFill>
              </a:rPr>
              <a:t>Planejamento (2026)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6" name="Google Shape;276;g3871f47ea69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456840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871f47ea69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52282"/>
            <a:ext cx="9144000" cy="3491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871f47ea69_0_1" title="generated-imag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9899" y="107150"/>
            <a:ext cx="1567549" cy="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"/>
          <p:cNvSpPr/>
          <p:nvPr/>
        </p:nvSpPr>
        <p:spPr>
          <a:xfrm>
            <a:off x="274320" y="274320"/>
            <a:ext cx="8595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b="0" sz="24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721783" y="1089378"/>
            <a:ext cx="82293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Calibri"/>
              <a:buChar char="∙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Passos Atuais:</a:t>
            </a:r>
            <a:endParaRPr b="0" sz="1500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39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Noto Sans Symbols"/>
              <a:buChar char="■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Construção do </a:t>
            </a:r>
            <a:r>
              <a:rPr b="1"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modelo de medição</a:t>
            </a: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2" marL="1371600" rtl="0" algn="l">
              <a:spcBef>
                <a:spcPts val="36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Calibri"/>
              <a:buChar char="■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Projetar e descrever a</a:t>
            </a:r>
            <a:r>
              <a:rPr b="1"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estrutura de governança</a:t>
            </a: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5049" lvl="1" marL="431999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Noto Sans Symbols"/>
              <a:buChar char="●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Próximos passos: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39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Noto Sans Symbols"/>
              <a:buChar char="■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Gerar primeira versão do </a:t>
            </a:r>
            <a:r>
              <a:rPr b="1"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documento final</a:t>
            </a: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39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Noto Sans Symbols"/>
              <a:buChar char="■"/>
            </a:pPr>
            <a:r>
              <a:rPr b="1" i="0" lang="en-US" sz="1500" u="none" cap="none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Executar o </a:t>
            </a:r>
            <a:r>
              <a:rPr b="1"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piloto</a:t>
            </a: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 e fazer ajustes</a:t>
            </a:r>
            <a:r>
              <a:rPr b="0" i="0" lang="en-US" sz="1500" u="none" cap="none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500" u="none" cap="none" strike="noStrike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30A18"/>
              </a:buClr>
              <a:buSzPts val="1500"/>
              <a:buFont typeface="Calibri"/>
              <a:buChar char="■"/>
            </a:pPr>
            <a:r>
              <a:rPr lang="en-US" sz="15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Realizar a Consulta Pública,e ;</a:t>
            </a:r>
            <a:endParaRPr sz="15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39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Noto Sans Symbols"/>
              <a:buChar char="■"/>
            </a:pPr>
            <a:r>
              <a:rPr b="0" i="0" lang="en-US" sz="1500" u="none" cap="none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Monitorar o progresso com base em </a:t>
            </a:r>
            <a:r>
              <a:rPr b="1" i="0" lang="en-US" sz="1500" u="none" cap="none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lições aprendidas</a:t>
            </a:r>
            <a:r>
              <a:rPr b="0" i="0" lang="en-US" sz="1500" u="none" cap="none" strike="noStrike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500" u="none" cap="none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1321" y="-4"/>
            <a:ext cx="1732683" cy="77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5" title="generated-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049" y="3283925"/>
            <a:ext cx="2705910" cy="16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2025-08-27T13:17:37Z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18.0</vt:r8>
  </property>
  <property fmtid="{D5CDD505-2E9C-101B-9397-08002B2CF9AE}" pid="3" name="PresentationFormat">
    <vt:lpwstr>On-screen Show (16:9)</vt:lpwstr>
  </property>
  <property fmtid="{D5CDD505-2E9C-101B-9397-08002B2CF9AE}" pid="4" name="Slides">
    <vt:r8>18.0</vt:r8>
  </property>
</Properties>
</file>